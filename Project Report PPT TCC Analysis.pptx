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0A1628"/>
                </a:solidFill>
                <a:latin typeface="Arial"/>
              </a:rPr>
              <a:t>Customer Churn Rate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235-465D-832D-230F9A329E14}"/>
              </c:ext>
            </c:extLst>
          </c:dPt>
          <c:dPt>
            <c:idx val="1"/>
            <c:bubble3D val="0"/>
            <c:spPr>
              <a:solidFill>
                <a:srgbClr val="EF5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235-465D-832D-230F9A329E1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235-465D-832D-230F9A329E1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235-465D-832D-230F9A329E1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Not Churned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73.5</c:v>
                </c:pt>
                <c:pt idx="1">
                  <c:v>26.5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235-465D-832D-230F9A329E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IN" sz="1300" b="0" i="0" u="none" strike="noStrike">
                <a:solidFill>
                  <a:srgbClr val="0A1628"/>
                </a:solidFill>
                <a:latin typeface="Arial"/>
              </a:rPr>
              <a:t>Distribution by Tenure Group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C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45-477B-8A77-FA872ACE7915}"/>
              </c:ext>
            </c:extLst>
          </c:dPt>
          <c:dPt>
            <c:idx val="1"/>
            <c:bubble3D val="0"/>
            <c:spPr>
              <a:solidFill>
                <a:srgbClr val="FFA1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45-477B-8A77-FA872ACE7915}"/>
              </c:ext>
            </c:extLst>
          </c:dPt>
          <c:dPt>
            <c:idx val="2"/>
            <c:bubble3D val="0"/>
            <c:spPr>
              <a:solidFill>
                <a:srgbClr val="EF5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45-477B-8A77-FA872ACE791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45-477B-8A77-FA872ACE791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45-477B-8A77-FA872ACE791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1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345-477B-8A77-FA872ACE791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0-12 Months</c:v>
                </c:pt>
                <c:pt idx="1">
                  <c:v>13-36 Months</c:v>
                </c:pt>
                <c:pt idx="2">
                  <c:v>37+ Months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31.6</c:v>
                </c:pt>
                <c:pt idx="1">
                  <c:v>26.4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45-477B-8A77-FA872ACE79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A1628"/>
                </a:solidFill>
                <a:latin typeface="Arial"/>
              </a:rPr>
              <a:t>Avg Monthly Charges by Tenure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Charges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68D-434F-A7CA-4124BCAA5FEB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68D-434F-A7CA-4124BCAA5FEB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68D-434F-A7CA-4124BCAA5F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0-12 Months</c:v>
                </c:pt>
                <c:pt idx="1">
                  <c:v>13-36 Months</c:v>
                </c:pt>
                <c:pt idx="2">
                  <c:v>37+ Months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56.1</c:v>
                </c:pt>
                <c:pt idx="1">
                  <c:v>63.25</c:v>
                </c:pt>
                <c:pt idx="2">
                  <c:v>72.010000000000005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68D-434F-A7CA-4124BCAA5F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A1628"/>
                </a:solidFill>
                <a:latin typeface="Arial"/>
              </a:rPr>
              <a:t>Churn Rate (%) by Contract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Churned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57.3</c:v>
                </c:pt>
                <c:pt idx="1">
                  <c:v>88.7</c:v>
                </c:pt>
                <c:pt idx="2">
                  <c:v>97.2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AD-42AB-BC15-DCC37C1810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F55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AD-42AB-BC15-DCC37C18106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A1628"/>
                </a:solidFill>
                <a:latin typeface="Arial"/>
              </a:rPr>
              <a:t>Churn Rate (%) by Internet Service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Churned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DSL</c:v>
                </c:pt>
                <c:pt idx="1">
                  <c:v>Fiber Optic</c:v>
                </c:pt>
                <c:pt idx="2">
                  <c:v>No Internet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58.1</c:v>
                </c:pt>
                <c:pt idx="2">
                  <c:v>92.6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C4-4535-871B-8DDAAC1B85D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EF55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DSL</c:v>
                </c:pt>
                <c:pt idx="1">
                  <c:v>Fiber Optic</c:v>
                </c:pt>
                <c:pt idx="2">
                  <c:v>No Internet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</c:v>
                </c:pt>
                <c:pt idx="1">
                  <c:v>41.9</c:v>
                </c:pt>
                <c:pt idx="2">
                  <c:v>7.4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C4-4535-871B-8DDAAC1B85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1625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474720"/>
            <a:ext cx="2011680" cy="201168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INTERNSHIP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Customer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0116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Kumar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at: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SaiKet Systems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703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7,043 Customers  |  21 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Seaborn  •  Plotly  •  Google Colab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258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581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problem, objectives &amp; dataset introduction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56032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61872" y="2468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28163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nulls, duplicates &amp; type corrections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7947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61872" y="3703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summary, distributions &amp; correlation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972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32588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50992" y="1234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50992" y="1581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groups &amp; monthly charge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31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256032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50992" y="2468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50992" y="28163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contract type &amp; internet service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379476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50992" y="3703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50992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actionable strategies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a critical challenge in the telecom industry, leading to significant revenue loss. Identifying at-risk customers early allows companies to take proactive retention steps.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Telco Customer Churn dataset to discover key churn drivers, segment customers, and generate actionable business recommendations.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80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2880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0604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Columns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2880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5488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27432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28803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03720" y="3566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1615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161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Standardization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99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all columns to lowercase with underscores using .str.strip().str.lower().str.replace()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3055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305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4140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 rows — Result: 0 duplicates found in the dataset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4495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449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3284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'totalcharges' from object to numeric using pd.to_numeric() with errors='coerce'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5935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593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4242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numerical nulls with median; categorical nulls with mode — Final null count: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Clean Dataset Ready: 7,043 rows × 21 columns — Zero nulls, Zero duplicates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 of Numerical Features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737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Citizen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(months)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118.75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Charges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7947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4178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32 months. Many new customers indicate high early churn risk.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55848" y="37947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65576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65576" y="4178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₹64.76 with high std deviation — wide pricing range.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54496" y="37947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64224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64224" y="41788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skewed — long-tenure customers generate significantly more revenue.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Rate &amp; Correlation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274320" y="91440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23317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73.5%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 |  26.5% Churned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Highlights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46304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5087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23560" y="15179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↔ Total Charges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2356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loyal customers spend more overall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33172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846320" y="237744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623560" y="2386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↔ Total Charges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23560" y="2679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higher plans drive total revenue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320040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846320" y="324612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0.25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623560" y="3255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 ↔ Tenure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23560" y="35478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pricing not locked to tenure length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4069080"/>
            <a:ext cx="411480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46320" y="41148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623560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 ↔ Monthly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23560" y="44165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seniors tend to pay slightly more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4491112"/>
            <a:ext cx="3931920" cy="502920"/>
          </a:xfrm>
          <a:prstGeom prst="roundRect">
            <a:avLst>
              <a:gd name="adj" fmla="val 1272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449111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 of customers churned — 1 in 4 customers is leaving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grouped by Tenure — Distribution &amp; Average Monthly Charges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41732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663440" y="141732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480560"/>
            <a:ext cx="8229600" cy="457200"/>
          </a:xfrm>
          <a:prstGeom prst="roundRect">
            <a:avLst>
              <a:gd name="adj" fmla="val 14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customers have 37+ months tenure and pay the highest avg charges (₹72) — most valuable segment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Analysis: Contract Type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0" y="146304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53619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5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42.7%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0" y="1645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265176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60720" y="272491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A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11.3%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85800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One-Year Contract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373497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60720" y="3840476"/>
            <a:ext cx="1005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2.8%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836898" y="384751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Contract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184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Month-to-month customers are 15x more likely to churn than two-year contract customers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Analysis: Internet Service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10058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0058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280" y="1470074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 churn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60920" y="181051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EF553B"/>
          </a:solidFill>
          <a:ln w="12700">
            <a:solidFill>
              <a:srgbClr val="EF55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60920" y="181051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265176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607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76072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1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 churn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60920" y="299923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FFA15A"/>
          </a:solidFill>
          <a:ln w="12700">
            <a:solidFill>
              <a:srgbClr val="FFA15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299923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384048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6072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760720" y="4251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7.4% churn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60920" y="4187952"/>
            <a:ext cx="132588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60920" y="41879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680322"/>
            <a:ext cx="8229600" cy="347472"/>
          </a:xfrm>
          <a:prstGeom prst="roundRect">
            <a:avLst>
              <a:gd name="adj" fmla="val 1842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65218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Fiber Optic customers churn at 2.2x the rate of DSL users — pricing or quality issues likely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161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26.5%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4 customers is leaving — significant revenue leakage for the company.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5576" y="1161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📄 42.7%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65576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Churn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65576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group. Two-year contracts retain 97.2% of customers.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105156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4224" y="11612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41.9%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64224" y="1618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Churn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64224" y="19202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users churn at 2.2x the rate of DSL customers.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081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📅 0-12mo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" y="3538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840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are the most vulnerable — critical first-year retention window.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55848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65576" y="3081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 0.83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465576" y="3538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Tenure-Revenue Correlation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65576" y="3840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 customers generate substantially more lifetime revenue.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297180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64224" y="3081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💹 ₹72.01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64224" y="3538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Avg Monthly Charge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64224" y="38404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37+ month customers pay the most — they're the highest value segment.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07008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Long-Term Contracts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35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and perks to convert month-to-month customers to yearly or two-year plans.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194560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112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First-Year Onboarding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(0-12 months) are highest risk. Invest in welcome programs and proactive support.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026664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182112"/>
            <a:ext cx="475488" cy="475488"/>
          </a:xfrm>
          <a:prstGeom prst="ellipse">
            <a:avLst/>
          </a:prstGeom>
          <a:solidFill>
            <a:srgbClr val="EF553B"/>
          </a:solidFill>
          <a:ln w="12700">
            <a:solidFill>
              <a:srgbClr val="EF55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8720" y="3099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Fiber Optic Issues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41.9% churn suggests pricing or quality concerns. Conduct surveys and review service quality.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14216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4169664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169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087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Loyal Customers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398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37+ months are your highest-value segment. Give them retention offers proactively.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05156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0328" y="120700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1207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32120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Churn Prediction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14356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tenure, contract type &amp; monthly charges as input features for an early-warning ML model.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039112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2194560"/>
            <a:ext cx="475488" cy="475488"/>
          </a:xfrm>
          <a:prstGeom prst="ellipse">
            <a:avLst/>
          </a:prstGeom>
          <a:solidFill>
            <a:srgbClr val="EF553B"/>
          </a:solidFill>
          <a:ln w="12700">
            <a:solidFill>
              <a:srgbClr val="EF55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21945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32120" y="2112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Retention Campaigns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3212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high-risk profiles (fiber optic + month-to-month + short tenure) with tailored offers.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026664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10328" y="3182112"/>
            <a:ext cx="475488" cy="47548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31821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32120" y="3099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 Charge Customers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32120" y="34107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high monthly charges who lack long-term contracts are a churn risk to watch.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Proves Clear Churn Predictors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analyzed 7,043 telecom customers to identify the top 3 churn drivers: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C4966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148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496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= 42.7% churn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0574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C4966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93008" y="2148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496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= 41.9% churn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57400"/>
            <a:ext cx="2560320" cy="1097280"/>
          </a:xfrm>
          <a:prstGeom prst="roundRect">
            <a:avLst>
              <a:gd name="adj" fmla="val 8333"/>
            </a:avLst>
          </a:prstGeom>
          <a:solidFill>
            <a:srgbClr val="1C4966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2148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7648" y="24963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= highest risk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promoting long-term contracts, improving fiber optic service, and targeting new customers with strong onboarding programs, the company can significantly reduce churn and maximize revenue from loyal, high-value customers.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2286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434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Yash Kumar  |  Business Analysis Internship  |  SaiKet Systems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929</Words>
  <Application>Microsoft Office PowerPoint</Application>
  <PresentationFormat>On-screen Show (16:9)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Analysis</dc:title>
  <dc:subject>PptxGenJS Presentation</dc:subject>
  <dc:creator>Yash Kumar</dc:creator>
  <cp:lastModifiedBy>Yash Kumar</cp:lastModifiedBy>
  <cp:revision>3</cp:revision>
  <dcterms:created xsi:type="dcterms:W3CDTF">2026-06-11T08:27:00Z</dcterms:created>
  <dcterms:modified xsi:type="dcterms:W3CDTF">2026-06-11T08:44:56Z</dcterms:modified>
</cp:coreProperties>
</file>